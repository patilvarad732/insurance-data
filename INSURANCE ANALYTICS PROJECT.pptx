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42" r:id="rId5"/>
    <p:sldId id="375" r:id="rId6"/>
    <p:sldId id="376" r:id="rId7"/>
    <p:sldId id="386" r:id="rId8"/>
    <p:sldId id="377" r:id="rId9"/>
    <p:sldId id="380" r:id="rId10"/>
    <p:sldId id="381" r:id="rId11"/>
    <p:sldId id="373" r:id="rId12"/>
    <p:sldId id="382" r:id="rId13"/>
    <p:sldId id="38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F5A276E-8922-4585-A18A-07B306E3CCF2}">
          <p14:sldIdLst>
            <p14:sldId id="342"/>
            <p14:sldId id="375"/>
            <p14:sldId id="376"/>
            <p14:sldId id="386"/>
            <p14:sldId id="377"/>
            <p14:sldId id="380"/>
            <p14:sldId id="381"/>
            <p14:sldId id="373"/>
            <p14:sldId id="382"/>
            <p14:sldId id="38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889" autoAdjust="0"/>
  </p:normalViewPr>
  <p:slideViewPr>
    <p:cSldViewPr snapToGrid="0" snapToObjects="1" showGuides="1">
      <p:cViewPr varScale="1">
        <p:scale>
          <a:sx n="73" d="100"/>
          <a:sy n="73" d="100"/>
        </p:scale>
        <p:origin x="1070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hit marathe" userId="15499571e2161df5" providerId="LiveId" clId="{B7067EE3-0539-4EBC-89F3-36316DFFCDD7}"/>
    <pc:docChg chg="undo redo custSel modSld">
      <pc:chgData name="rohit marathe" userId="15499571e2161df5" providerId="LiveId" clId="{B7067EE3-0539-4EBC-89F3-36316DFFCDD7}" dt="2026-03-02T09:53:40.961" v="20" actId="5793"/>
      <pc:docMkLst>
        <pc:docMk/>
      </pc:docMkLst>
      <pc:sldChg chg="modSp mod">
        <pc:chgData name="rohit marathe" userId="15499571e2161df5" providerId="LiveId" clId="{B7067EE3-0539-4EBC-89F3-36316DFFCDD7}" dt="2026-03-02T09:52:58.227" v="16" actId="1076"/>
        <pc:sldMkLst>
          <pc:docMk/>
          <pc:sldMk cId="2498031464" sldId="342"/>
        </pc:sldMkLst>
        <pc:spChg chg="mod">
          <ac:chgData name="rohit marathe" userId="15499571e2161df5" providerId="LiveId" clId="{B7067EE3-0539-4EBC-89F3-36316DFFCDD7}" dt="2026-03-02T09:52:58.227" v="16" actId="1076"/>
          <ac:spMkLst>
            <pc:docMk/>
            <pc:sldMk cId="2498031464" sldId="342"/>
            <ac:spMk id="4" creationId="{03544A52-1859-FD74-EDAE-CFBD575C8246}"/>
          </ac:spMkLst>
        </pc:spChg>
        <pc:spChg chg="mod">
          <ac:chgData name="rohit marathe" userId="15499571e2161df5" providerId="LiveId" clId="{B7067EE3-0539-4EBC-89F3-36316DFFCDD7}" dt="2026-03-02T09:52:37.587" v="14" actId="20577"/>
          <ac:spMkLst>
            <pc:docMk/>
            <pc:sldMk cId="2498031464" sldId="342"/>
            <ac:spMk id="12" creationId="{997874EA-2F67-60CD-631F-5A787057F8CE}"/>
          </ac:spMkLst>
        </pc:spChg>
      </pc:sldChg>
      <pc:sldChg chg="modSp mod">
        <pc:chgData name="rohit marathe" userId="15499571e2161df5" providerId="LiveId" clId="{B7067EE3-0539-4EBC-89F3-36316DFFCDD7}" dt="2026-03-02T09:53:40.961" v="20" actId="5793"/>
        <pc:sldMkLst>
          <pc:docMk/>
          <pc:sldMk cId="79695288" sldId="380"/>
        </pc:sldMkLst>
        <pc:spChg chg="mod">
          <ac:chgData name="rohit marathe" userId="15499571e2161df5" providerId="LiveId" clId="{B7067EE3-0539-4EBC-89F3-36316DFFCDD7}" dt="2026-03-02T09:53:40.961" v="20" actId="5793"/>
          <ac:spMkLst>
            <pc:docMk/>
            <pc:sldMk cId="79695288" sldId="380"/>
            <ac:spMk id="3" creationId="{7D7CECA3-144C-CD4B-9246-81B4F2E6546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029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4872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2136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5100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164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2124874"/>
            <a:ext cx="12191998" cy="1735391"/>
          </a:xfrm>
        </p:spPr>
        <p:txBody>
          <a:bodyPr anchor="b"/>
          <a:lstStyle/>
          <a:p>
            <a:r>
              <a:rPr lang="en-US" dirty="0"/>
              <a:t>INSURANCE ANALYTICS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544A52-1859-FD74-EDAE-CFBD575C8246}"/>
              </a:ext>
            </a:extLst>
          </p:cNvPr>
          <p:cNvSpPr txBox="1"/>
          <p:nvPr/>
        </p:nvSpPr>
        <p:spPr>
          <a:xfrm>
            <a:off x="5253136" y="3876373"/>
            <a:ext cx="2104104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3">
                    <a:lumMod val="75000"/>
                  </a:schemeClr>
                </a:solidFill>
              </a:rPr>
              <a:t>Group Members</a:t>
            </a:r>
          </a:p>
          <a:p>
            <a:pPr marL="342900" indent="-342900">
              <a:buAutoNum type="arabicParenR"/>
            </a:pPr>
            <a:r>
              <a:rPr lang="en-IN" sz="1400" b="1" dirty="0">
                <a:solidFill>
                  <a:schemeClr val="accent3">
                    <a:lumMod val="75000"/>
                  </a:schemeClr>
                </a:solidFill>
              </a:rPr>
              <a:t>Varad Patil</a:t>
            </a:r>
          </a:p>
          <a:p>
            <a:pPr marL="342900" indent="-342900">
              <a:buAutoNum type="arabicParenR"/>
            </a:pPr>
            <a:r>
              <a:rPr lang="en-IN" sz="1400" b="1" dirty="0">
                <a:solidFill>
                  <a:schemeClr val="accent3">
                    <a:lumMod val="75000"/>
                  </a:schemeClr>
                </a:solidFill>
              </a:rPr>
              <a:t>Rohit Marathe </a:t>
            </a:r>
          </a:p>
          <a:p>
            <a:pPr marL="342900" indent="-342900">
              <a:buAutoNum type="arabicParenR"/>
            </a:pPr>
            <a:r>
              <a:rPr lang="en-IN" sz="1400" b="1" dirty="0">
                <a:solidFill>
                  <a:schemeClr val="accent3">
                    <a:lumMod val="75000"/>
                  </a:schemeClr>
                </a:solidFill>
              </a:rPr>
              <a:t>NM Yajna</a:t>
            </a:r>
          </a:p>
          <a:p>
            <a:pPr marL="342900" indent="-342900">
              <a:buAutoNum type="arabicParenR"/>
            </a:pPr>
            <a:r>
              <a:rPr lang="en-IN" sz="1400" b="1" dirty="0">
                <a:solidFill>
                  <a:schemeClr val="accent3">
                    <a:lumMod val="75000"/>
                  </a:schemeClr>
                </a:solidFill>
              </a:rPr>
              <a:t>Joycee Adhav</a:t>
            </a:r>
          </a:p>
          <a:p>
            <a:pPr marL="342900" indent="-342900">
              <a:buAutoNum type="arabicParenR"/>
            </a:pPr>
            <a:r>
              <a:rPr lang="en-IN" sz="1400" b="1" dirty="0">
                <a:solidFill>
                  <a:schemeClr val="accent3">
                    <a:lumMod val="75000"/>
                  </a:schemeClr>
                </a:solidFill>
              </a:rPr>
              <a:t>Sreenivas Bhosale</a:t>
            </a:r>
          </a:p>
          <a:p>
            <a:pPr marL="342900" indent="-342900">
              <a:buAutoNum type="arabicParenR"/>
            </a:pPr>
            <a:r>
              <a:rPr lang="en-IN" sz="1400" b="1" dirty="0">
                <a:solidFill>
                  <a:schemeClr val="accent3">
                    <a:lumMod val="75000"/>
                  </a:schemeClr>
                </a:solidFill>
              </a:rPr>
              <a:t>Aarya </a:t>
            </a:r>
            <a:r>
              <a:rPr lang="en-IN" sz="1400" b="1" dirty="0" err="1">
                <a:solidFill>
                  <a:schemeClr val="accent3">
                    <a:lumMod val="75000"/>
                  </a:schemeClr>
                </a:solidFill>
              </a:rPr>
              <a:t>Sangle</a:t>
            </a:r>
            <a:endParaRPr lang="en-IN" sz="1400" b="1" dirty="0">
              <a:solidFill>
                <a:schemeClr val="accent3">
                  <a:lumMod val="75000"/>
                </a:schemeClr>
              </a:solidFill>
            </a:endParaRPr>
          </a:p>
          <a:p>
            <a:pPr marL="342900" indent="-342900">
              <a:buAutoNum type="arabicParenR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358904"/>
            <a:ext cx="7420819" cy="1656304"/>
          </a:xfrm>
        </p:spPr>
        <p:txBody>
          <a:bodyPr/>
          <a:lstStyle/>
          <a:p>
            <a:r>
              <a:rPr lang="en-IN" b="1" dirty="0"/>
              <a:t>Data Overview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60DFF-2E7E-7A22-819A-C011020DFF0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287587"/>
            <a:ext cx="8502873" cy="4121173"/>
          </a:xfrm>
        </p:spPr>
        <p:txBody>
          <a:bodyPr/>
          <a:lstStyle/>
          <a:p>
            <a:pPr marL="0" indent="0">
              <a:buNone/>
            </a:pPr>
            <a:r>
              <a:rPr lang="en-IN" sz="2400" b="1" u="sng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Data Sources</a:t>
            </a:r>
            <a:r>
              <a:rPr lang="en-IN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: </a:t>
            </a:r>
            <a:r>
              <a:rPr lang="en-IN" sz="2400" b="1" dirty="0"/>
              <a:t>Six interconnected Excel datasets: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Brokerage &amp; Fees: Core revenue streams.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Individual Budgets: Target benchmarks for Account Executives.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Invoices: Transactional records of billed revenue.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Meetings: Sales activity and engagement tracking.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Opportunities: Sales pipeline and potential future revenue.</a:t>
            </a:r>
          </a:p>
          <a:p>
            <a:pPr marL="0" indent="0">
              <a:buNone/>
            </a:pPr>
            <a:r>
              <a:rPr lang="en-US" sz="2400" b="1" u="sng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Scope:</a:t>
            </a:r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000" b="1" dirty="0"/>
              <a:t>Data spans multiple branches (e.g., Ahmedabad) and various insurance product groups (Marine, Fire, Employee Benefits).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A29A4-AAFD-04EE-0732-0671E83D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620" y="378870"/>
            <a:ext cx="8843050" cy="1616904"/>
          </a:xfrm>
        </p:spPr>
        <p:txBody>
          <a:bodyPr/>
          <a:lstStyle/>
          <a:p>
            <a:r>
              <a:rPr lang="en-IN" dirty="0"/>
              <a:t> </a:t>
            </a:r>
            <a:r>
              <a:rPr lang="en-IN" b="1" dirty="0"/>
              <a:t>Technical Process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FEE91-E849-1CB0-9E51-A58B99C631C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2064774" y="2189676"/>
            <a:ext cx="4323326" cy="4584750"/>
          </a:xfrm>
        </p:spPr>
        <p:txBody>
          <a:bodyPr/>
          <a:lstStyle/>
          <a:p>
            <a:pPr marL="400050" indent="-400050">
              <a:buFont typeface="+mj-lt"/>
              <a:buAutoNum type="romanUcPeriod"/>
            </a:pP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Data Cleaning (Excel):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en-US" b="1" dirty="0"/>
              <a:t>Standardizing date formats and handling null values in the 6 source files.</a:t>
            </a:r>
          </a:p>
          <a:p>
            <a:pPr marL="400050" indent="-400050">
              <a:buFont typeface="+mj-lt"/>
              <a:buAutoNum type="romanUcPeriod"/>
            </a:pP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Database Management (SQL): </a:t>
            </a:r>
            <a:r>
              <a:rPr lang="en-US" b="1" dirty="0"/>
              <a:t>Using JOIN and UNION ALL to combine Brokerage and Fees for a unified revenue view</a:t>
            </a:r>
            <a:r>
              <a:rPr lang="en-US" dirty="0"/>
              <a:t>.</a:t>
            </a:r>
          </a:p>
          <a:p>
            <a:pPr marL="400050" indent="-400050">
              <a:buFont typeface="+mj-lt"/>
              <a:buAutoNum type="romanUcPeriod"/>
            </a:pP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Business Logic: </a:t>
            </a:r>
            <a:r>
              <a:rPr lang="en-US" b="1" dirty="0"/>
              <a:t>Calculating "Achieved vs. Target" metrics using window functions and aggregations.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74F1A-D233-C240-B22D-F82C6161FAC1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892414" y="2189676"/>
            <a:ext cx="4837470" cy="4289453"/>
          </a:xfrm>
        </p:spPr>
        <p:txBody>
          <a:bodyPr/>
          <a:lstStyle/>
          <a:p>
            <a:r>
              <a:rPr lang="en-IN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Visualization (Power BI/Tableau/Excel):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 </a:t>
            </a:r>
            <a:r>
              <a:rPr lang="en-IN" sz="2000" b="1" u="sng" dirty="0"/>
              <a:t>Power BI</a:t>
            </a:r>
            <a:r>
              <a:rPr lang="en-IN" sz="2000" b="1" dirty="0"/>
              <a:t>:</a:t>
            </a:r>
            <a:r>
              <a:rPr lang="en-IN" b="1" dirty="0"/>
              <a:t>. For interactive filtering by Branch and Executive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b="1" u="sng" dirty="0"/>
              <a:t>Tableau</a:t>
            </a:r>
            <a:r>
              <a:rPr lang="en-IN" sz="2000" b="1" dirty="0"/>
              <a:t>:</a:t>
            </a:r>
            <a:r>
              <a:rPr lang="en-IN" sz="2000" dirty="0"/>
              <a:t> </a:t>
            </a:r>
            <a:r>
              <a:rPr lang="en-IN" b="1" dirty="0"/>
              <a:t>For deep-dive trend analysis and geographical performance.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b="1" u="sng" dirty="0"/>
              <a:t>Excel</a:t>
            </a:r>
            <a:r>
              <a:rPr lang="en-IN" sz="2000" b="1" dirty="0"/>
              <a:t>:</a:t>
            </a:r>
            <a:r>
              <a:rPr lang="en-IN" sz="2000" dirty="0"/>
              <a:t> </a:t>
            </a:r>
            <a:r>
              <a:rPr lang="en-IN" b="1" dirty="0"/>
              <a:t>For quick pivot-based KPI summaries.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23533-91C6-420C-B7D7-4977ACF7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3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F5D5F6-2A61-1455-41DB-848EEFA8E3AB}"/>
              </a:ext>
            </a:extLst>
          </p:cNvPr>
          <p:cNvCxnSpPr>
            <a:cxnSpLocks/>
          </p:cNvCxnSpPr>
          <p:nvPr/>
        </p:nvCxnSpPr>
        <p:spPr>
          <a:xfrm>
            <a:off x="6577781" y="2163094"/>
            <a:ext cx="0" cy="451671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3601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A554A-943C-8419-1BF3-AC099E5CB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70" y="826061"/>
            <a:ext cx="10515601" cy="1140849"/>
          </a:xfrm>
        </p:spPr>
        <p:txBody>
          <a:bodyPr/>
          <a:lstStyle/>
          <a:p>
            <a:r>
              <a:rPr lang="en-IN" b="1" dirty="0"/>
              <a:t>Objectives &amp; Key KPIs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D4B9D-9F90-0427-30AC-D683F667F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F618C3-7B0B-C18A-D6D2-B1A55392D84A}"/>
              </a:ext>
            </a:extLst>
          </p:cNvPr>
          <p:cNvSpPr txBox="1"/>
          <p:nvPr/>
        </p:nvSpPr>
        <p:spPr>
          <a:xfrm>
            <a:off x="472966" y="2007881"/>
            <a:ext cx="11411205" cy="4495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400" b="1" u="sng" dirty="0">
                <a:solidFill>
                  <a:schemeClr val="bg2">
                    <a:lumMod val="90000"/>
                  </a:schemeClr>
                </a:solidFill>
              </a:rPr>
              <a:t>The project focuses on measuring success through six primary KPIs:</a:t>
            </a:r>
          </a:p>
          <a:p>
            <a:pPr marL="285750" indent="-28575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Total Revenue vs. Target: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Measuring the gap between achieved Brokerage/Fees and set Budgets.</a:t>
            </a:r>
          </a:p>
          <a:p>
            <a:pPr marL="285750" indent="-28575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New vs. Renewal Business: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sz="1800" dirty="0">
                <a:solidFill>
                  <a:schemeClr val="bg1"/>
                </a:solidFill>
              </a:rPr>
              <a:t>Tracking the ratio of fresh client acquisition to retained business.</a:t>
            </a:r>
          </a:p>
          <a:p>
            <a:pPr marL="285750" indent="-28575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Meeting Productivity: </a:t>
            </a:r>
            <a:r>
              <a:rPr lang="en-US" sz="1800" dirty="0">
                <a:solidFill>
                  <a:schemeClr val="bg1"/>
                </a:solidFill>
              </a:rPr>
              <a:t>Quantifying the relationship between client meetings and successful conversions.</a:t>
            </a:r>
          </a:p>
          <a:p>
            <a:pPr marL="285750" indent="-28575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Opportunity Pipeline Value: </a:t>
            </a:r>
            <a:r>
              <a:rPr lang="en-US" sz="1800" dirty="0">
                <a:solidFill>
                  <a:schemeClr val="bg1"/>
                </a:solidFill>
              </a:rPr>
              <a:t>Total estimated revenue sitting in "Qualify," "Negotiate," and "Propose" stages.</a:t>
            </a:r>
          </a:p>
          <a:p>
            <a:pPr marL="285750" indent="-28575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Executive Performance: </a:t>
            </a:r>
            <a:r>
              <a:rPr lang="en-US" sz="1800" dirty="0">
                <a:solidFill>
                  <a:schemeClr val="bg1"/>
                </a:solidFill>
              </a:rPr>
              <a:t>Ranking Account Executives by invoice count and revenue generated.</a:t>
            </a:r>
          </a:p>
          <a:p>
            <a:pPr marL="285750" indent="-28575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Cross-Sell Achievement: </a:t>
            </a:r>
            <a:r>
              <a:rPr lang="en-US" sz="1800" dirty="0">
                <a:solidFill>
                  <a:schemeClr val="bg1"/>
                </a:solidFill>
              </a:rPr>
              <a:t>Evaluating the success of selling additional products to existing clients.</a:t>
            </a:r>
          </a:p>
        </p:txBody>
      </p:sp>
    </p:spTree>
    <p:extLst>
      <p:ext uri="{BB962C8B-B14F-4D97-AF65-F5344CB8AC3E}">
        <p14:creationId xmlns:p14="http://schemas.microsoft.com/office/powerpoint/2010/main" val="2315992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83E06-8BEA-1DD3-D0D6-391C08880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649158"/>
            <a:ext cx="10500989" cy="1327464"/>
          </a:xfrm>
        </p:spPr>
        <p:txBody>
          <a:bodyPr/>
          <a:lstStyle/>
          <a:p>
            <a:r>
              <a:rPr lang="en-IN" b="1" dirty="0"/>
              <a:t>Analysis &amp; Findings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175D3-F3DC-695F-474B-346EDCA5D60F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07038" y="2143433"/>
            <a:ext cx="10435631" cy="4267200"/>
          </a:xfrm>
        </p:spPr>
        <p:txBody>
          <a:bodyPr/>
          <a:lstStyle/>
          <a:p>
            <a:pPr marL="283464" lvl="1" indent="0">
              <a:lnSpc>
                <a:spcPct val="100000"/>
              </a:lnSpc>
              <a:buNone/>
            </a:pPr>
            <a:r>
              <a:rPr lang="en-IN" sz="2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Revenue         </a:t>
            </a:r>
          </a:p>
          <a:p>
            <a:pPr marL="283464" lvl="1" indent="0">
              <a:lnSpc>
                <a:spcPct val="100000"/>
              </a:lnSpc>
              <a:buNone/>
            </a:pPr>
            <a:r>
              <a:rPr lang="en-IN" sz="2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Mix</a:t>
            </a:r>
          </a:p>
          <a:p>
            <a:pPr marL="0" indent="0">
              <a:buNone/>
            </a:pPr>
            <a:endParaRPr lang="en-US" dirty="0"/>
          </a:p>
          <a:p>
            <a:pPr marL="283464" lvl="1" indent="0">
              <a:lnSpc>
                <a:spcPct val="100000"/>
              </a:lnSpc>
              <a:buNone/>
            </a:pPr>
            <a:r>
              <a:rPr lang="en-IN" sz="2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Pipeline </a:t>
            </a:r>
          </a:p>
          <a:p>
            <a:pPr marL="283464" lvl="1" indent="0">
              <a:lnSpc>
                <a:spcPct val="100000"/>
              </a:lnSpc>
              <a:buNone/>
            </a:pPr>
            <a:r>
              <a:rPr lang="en-IN" sz="2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Health</a:t>
            </a:r>
          </a:p>
          <a:p>
            <a:pPr marL="0" indent="0">
              <a:buNone/>
            </a:pPr>
            <a:endParaRPr lang="en-IN" dirty="0"/>
          </a:p>
          <a:p>
            <a:pPr marL="283464" lvl="1" indent="0">
              <a:lnSpc>
                <a:spcPct val="100000"/>
              </a:lnSpc>
              <a:buNone/>
            </a:pPr>
            <a:r>
              <a:rPr lang="en-IN" sz="2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Top </a:t>
            </a:r>
          </a:p>
          <a:p>
            <a:pPr marL="283464" lvl="1" indent="0">
              <a:lnSpc>
                <a:spcPct val="100000"/>
              </a:lnSpc>
              <a:buNone/>
            </a:pPr>
            <a:r>
              <a:rPr lang="en-IN" sz="2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Performers</a:t>
            </a:r>
            <a:endParaRPr lang="en-US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B8B6A-2B28-5C38-80E7-0EBE705F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5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D4B33AC-6DAA-F5E4-902B-410A6ED2476A}"/>
              </a:ext>
            </a:extLst>
          </p:cNvPr>
          <p:cNvCxnSpPr/>
          <p:nvPr/>
        </p:nvCxnSpPr>
        <p:spPr>
          <a:xfrm>
            <a:off x="3224981" y="2251587"/>
            <a:ext cx="0" cy="100289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83290D7-0D5B-503F-7423-CB3A37DACF44}"/>
              </a:ext>
            </a:extLst>
          </p:cNvPr>
          <p:cNvCxnSpPr/>
          <p:nvPr/>
        </p:nvCxnSpPr>
        <p:spPr>
          <a:xfrm>
            <a:off x="3224981" y="3844412"/>
            <a:ext cx="0" cy="100289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EF2DF3-0C72-EE2C-0DB0-A7542157421F}"/>
              </a:ext>
            </a:extLst>
          </p:cNvPr>
          <p:cNvCxnSpPr/>
          <p:nvPr/>
        </p:nvCxnSpPr>
        <p:spPr>
          <a:xfrm>
            <a:off x="3224981" y="5407743"/>
            <a:ext cx="0" cy="100289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8E6FD3D6-33CA-7337-2379-3D15D700A130}"/>
              </a:ext>
            </a:extLst>
          </p:cNvPr>
          <p:cNvSpPr/>
          <p:nvPr/>
        </p:nvSpPr>
        <p:spPr>
          <a:xfrm>
            <a:off x="3401961" y="2251587"/>
            <a:ext cx="7502013" cy="10028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en-US" b="1" dirty="0"/>
              <a:t>Analysis shows a heavy reliance on "Renewal" income, with a significant opportunity to grow "New" and "Cross-Sell" segments.</a:t>
            </a:r>
            <a:endParaRPr lang="en-IN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3CD5DF-6329-423C-86AC-33D701D9BAFC}"/>
              </a:ext>
            </a:extLst>
          </p:cNvPr>
          <p:cNvSpPr/>
          <p:nvPr/>
        </p:nvSpPr>
        <p:spPr>
          <a:xfrm>
            <a:off x="3401960" y="5405870"/>
            <a:ext cx="7502013" cy="10028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accent3"/>
                </a:solidFill>
              </a:rPr>
              <a:t>Executives like Gilbert and Ketan Jain lead in invoice counts, while others show high meeting activity but lower conversion rates.</a:t>
            </a:r>
            <a:endParaRPr lang="en-IN" b="1" dirty="0">
              <a:solidFill>
                <a:schemeClr val="accent3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AA07ED-27B0-DD79-5657-FDA4E7317534}"/>
              </a:ext>
            </a:extLst>
          </p:cNvPr>
          <p:cNvSpPr/>
          <p:nvPr/>
        </p:nvSpPr>
        <p:spPr>
          <a:xfrm>
            <a:off x="3401961" y="3844412"/>
            <a:ext cx="7502013" cy="10028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accent3"/>
                </a:solidFill>
              </a:rPr>
              <a:t>The "Opportunity" data indicates a high volume of deals in the "Qualify" stage ($5.9M+) but a drop-off in the "Negotiate" stage ($899k), suggesting a need for better closing strategies.</a:t>
            </a:r>
            <a:endParaRPr lang="en-IN" b="1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8059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E810E-8E37-1D8A-245B-020E4E4C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424" y="669880"/>
            <a:ext cx="10515601" cy="1327464"/>
          </a:xfrm>
        </p:spPr>
        <p:txBody>
          <a:bodyPr/>
          <a:lstStyle/>
          <a:p>
            <a:r>
              <a:rPr lang="en-IN" b="1" dirty="0"/>
              <a:t>Recommendations &amp; Insights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CECA3-144C-CD4B-9246-81B4F2E6546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4301" y="2282432"/>
            <a:ext cx="10515601" cy="4308891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Focus on Conversion: </a:t>
            </a:r>
            <a:r>
              <a:rPr lang="en-US" dirty="0"/>
              <a:t>Shift executive training from "Lead Generation" to "Closing" to move the $5.9M in "Qualify" opportunities through the funnel.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Incentivize Cross-Selling: </a:t>
            </a:r>
            <a:r>
              <a:rPr lang="en-US" dirty="0"/>
              <a:t>Since Cross-Sell targets show high variance, introduce specific bonuses for solution groups like "Construction" or "Marine" for existing clients.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Activity-Based Management: </a:t>
            </a:r>
            <a:r>
              <a:rPr lang="en-US" dirty="0"/>
              <a:t>Use the "Meeting" data to set a minimum weekly meeting threshold for underperforming executives.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E69EA-A9E8-C521-7C62-DA1F2487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95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F125C3-99F8-5ABF-1328-0370F1121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Challenges &amp; Learning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5502B45-2BBD-8A87-BFBD-9D8862AD0C94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842160"/>
          </a:xfrm>
        </p:spPr>
        <p:txBody>
          <a:bodyPr/>
          <a:lstStyle/>
          <a:p>
            <a:r>
              <a:rPr 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Data Silos: </a:t>
            </a:r>
            <a:r>
              <a:rPr lang="en-US" dirty="0"/>
              <a:t>Combining "Brokerage" and "Fees" into a single revenue view required complex SQL unions due to different column structures.</a:t>
            </a:r>
          </a:p>
          <a:p>
            <a:r>
              <a:rPr 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Data Integrity: </a:t>
            </a:r>
            <a:r>
              <a:rPr lang="en-US" dirty="0"/>
              <a:t>Handling mismatched "Account Executive IDs" across different tables to ensure accurate reporting.</a:t>
            </a:r>
          </a:p>
          <a:p>
            <a:r>
              <a:rPr 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Learning: </a:t>
            </a:r>
            <a:r>
              <a:rPr lang="en-US" dirty="0"/>
              <a:t>Gained expertise in "Multi-Tool Integration"—understanding when to use SQL for heavy lifting vs. Power BI for storytelling.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A189C-8A41-5C63-2470-06541519C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068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A971A9-0C5C-DDFC-67F9-2E5A55F1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9ED02F-6001-A5C2-F36B-22F10C8C8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67" y="344129"/>
            <a:ext cx="11562303" cy="6247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193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110ED-572C-B10C-6091-2279EA67A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349071"/>
            <a:ext cx="7420819" cy="1656304"/>
          </a:xfrm>
        </p:spPr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EA572-FDDA-4A48-2825-134D35D5C711}"/>
              </a:ext>
            </a:extLst>
          </p:cNvPr>
          <p:cNvSpPr>
            <a:spLocks noGrp="1"/>
          </p:cNvSpPr>
          <p:nvPr>
            <p:ph sz="quarter" idx="3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000" b="1" dirty="0"/>
              <a:t>The project successfully integrated fragmented data into a unified reporting system.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/>
              <a:t>The transition from manual Excel tracking to automated Power BI/Tableau dashboards reduces reporting time by approximately 70%.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/>
              <a:t>Final Thought: Data is only as good as the decisions it inspires. These dashboards now provide the roadmap for the next fiscal year.</a:t>
            </a:r>
            <a:endParaRPr lang="en-IN" sz="2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D3AE3-DB21-4FD3-F5E8-907D7043E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028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8965101-8FE5-562B-393A-A7B1AB13B407}"/>
              </a:ext>
            </a:extLst>
          </p:cNvPr>
          <p:cNvSpPr/>
          <p:nvPr/>
        </p:nvSpPr>
        <p:spPr>
          <a:xfrm>
            <a:off x="3111062" y="2477813"/>
            <a:ext cx="5969876" cy="1902373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r>
              <a:rPr lang="en-IN" sz="6600" b="1" dirty="0">
                <a:latin typeface="Arial Rounded MT Bold" panose="020F0704030504030204" pitchFamily="34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34145723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Scientific findings presentation</Template>
  <TotalTime>676</TotalTime>
  <Words>629</Words>
  <Application>Microsoft Office PowerPoint</Application>
  <PresentationFormat>Widescreen</PresentationFormat>
  <Paragraphs>74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Arial Nova</vt:lpstr>
      <vt:lpstr>Arial Rounded MT Bold</vt:lpstr>
      <vt:lpstr>Biome</vt:lpstr>
      <vt:lpstr>Calibri</vt:lpstr>
      <vt:lpstr>Wingdings</vt:lpstr>
      <vt:lpstr>Custom</vt:lpstr>
      <vt:lpstr>INSURANCE ANALYTICS project</vt:lpstr>
      <vt:lpstr>Data Overview</vt:lpstr>
      <vt:lpstr> Technical Process</vt:lpstr>
      <vt:lpstr>Objectives &amp; Key KPIs</vt:lpstr>
      <vt:lpstr>Analysis &amp; Findings</vt:lpstr>
      <vt:lpstr>Recommendations &amp; Insights</vt:lpstr>
      <vt:lpstr>Challenges &amp; Learning</vt:lpstr>
      <vt:lpstr>PowerPoint Presentation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marathe</dc:creator>
  <cp:lastModifiedBy>varad patil</cp:lastModifiedBy>
  <cp:revision>2</cp:revision>
  <dcterms:created xsi:type="dcterms:W3CDTF">2026-03-02T05:30:17Z</dcterms:created>
  <dcterms:modified xsi:type="dcterms:W3CDTF">2026-03-03T17:11:45Z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